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40" r:id="rId10"/>
    <p:sldId id="339"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CMohanRaaj/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47767" y="3588198"/>
            <a:ext cx="5823857" cy="861497"/>
          </a:xfrm>
        </p:spPr>
        <p:txBody>
          <a:bodyPr vert="horz" lIns="91440" tIns="45720" rIns="91440" bIns="45720" rtlCol="0" anchor="t">
            <a:normAutofit/>
          </a:bodyPr>
          <a:lstStyle/>
          <a:p>
            <a:pPr algn="r"/>
            <a:r>
              <a:rPr lang="en-US" b="0" dirty="0">
                <a:solidFill>
                  <a:schemeClr val="tx1"/>
                </a:solidFill>
              </a:rPr>
              <a:t>C MOHAN RAAJ</a:t>
            </a:r>
          </a:p>
          <a:p>
            <a:pPr algn="r"/>
            <a:r>
              <a:rPr lang="en-IN" b="0" dirty="0">
                <a:solidFill>
                  <a:schemeClr val="tx1"/>
                </a:solidFill>
              </a:rPr>
              <a:t>Sathyabama Institute of Science and Technology</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7322637" cy="743448"/>
          </a:xfrm>
        </p:spPr>
        <p:txBody>
          <a:bodyPr>
            <a:normAutofit fontScale="90000"/>
          </a:bodyPr>
          <a:lstStyle/>
          <a:p>
            <a:r>
              <a:rPr lang="en-GB" sz="3200" dirty="0"/>
              <a:t>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6178181" cy="369332"/>
          </a:xfrm>
          <a:prstGeom prst="rect">
            <a:avLst/>
          </a:prstGeom>
          <a:noFill/>
        </p:spPr>
        <p:txBody>
          <a:bodyPr wrap="square" rtlCol="0">
            <a:spAutoFit/>
          </a:bodyPr>
          <a:lstStyle/>
          <a:p>
            <a:r>
              <a:rPr lang="en-US" b="1" dirty="0"/>
              <a:t>AICTE STU ID : </a:t>
            </a:r>
            <a:r>
              <a:rPr lang="en-US" dirty="0"/>
              <a:t>STU682c0ae6bea981747716838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555171"/>
            <a:ext cx="6276109" cy="702129"/>
          </a:xfrm>
        </p:spPr>
        <p:txBody>
          <a:bodyPr>
            <a:normAutofit fontScale="90000"/>
          </a:bodyPr>
          <a:lstStyle/>
          <a:p>
            <a:r>
              <a:rPr lang="en-GB" dirty="0"/>
              <a:t>Project Description</a:t>
            </a:r>
            <a:br>
              <a:rPr lang="en-GB" dirty="0"/>
            </a:br>
            <a:r>
              <a:rPr lang="en-US" sz="2200" b="0" dirty="0">
                <a:solidFill>
                  <a:schemeClr val="tx2">
                    <a:lumMod val="60000"/>
                    <a:lumOff val="40000"/>
                  </a:schemeClr>
                </a:solidFill>
              </a:rPr>
              <a:t>Seasonal Agriculture Performance Analysis is a data analytics project focused on understanding how agricultural performance varies across different seasons, regions, crops, environmental conditions, farming practices, resource usage, and economic factors. The project involves data loading, data cleaning, exploratory data analysis, statistical analysis, KPI evaluation, visualization, and interpretation of agricultural data. The analysis compares seasonal performance, crop productivity, resource usage, environmental conditions, and economic outcomes to identify meaningful patterns and relationships. The objective is to generate evidence-based insights and data-driven recommendations that can support better seasonal agricultural planning and resource management.</a:t>
            </a:r>
            <a:br>
              <a:rPr lang="en-US" sz="2200" b="0"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501149" y="6431281"/>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320401" y="643128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25000" lnSpcReduction="20000"/>
          </a:bodyPr>
          <a:lstStyle/>
          <a:p>
            <a:pPr lvl="0">
              <a:buClr>
                <a:srgbClr val="2E946B"/>
              </a:buClr>
            </a:pPr>
            <a:r>
              <a:rPr lang="en-IN" sz="8000" b="1" dirty="0">
                <a:solidFill>
                  <a:srgbClr val="2C3C43">
                    <a:lumMod val="60000"/>
                    <a:lumOff val="40000"/>
                  </a:srgbClr>
                </a:solidFill>
              </a:rPr>
              <a:t>Farmers</a:t>
            </a:r>
            <a:r>
              <a:rPr lang="en-IN" sz="8000" dirty="0">
                <a:solidFill>
                  <a:srgbClr val="2C3C43">
                    <a:lumMod val="60000"/>
                    <a:lumOff val="40000"/>
                  </a:srgbClr>
                </a:solidFill>
              </a:rPr>
              <a:t> – to understand which seasons, crops, and farming conditions give better performance.</a:t>
            </a:r>
          </a:p>
          <a:p>
            <a:pPr lvl="0">
              <a:buClr>
                <a:srgbClr val="2E946B"/>
              </a:buClr>
            </a:pPr>
            <a:r>
              <a:rPr lang="en-IN" sz="8000" b="1" dirty="0">
                <a:solidFill>
                  <a:srgbClr val="2C3C43">
                    <a:lumMod val="60000"/>
                    <a:lumOff val="40000"/>
                  </a:srgbClr>
                </a:solidFill>
              </a:rPr>
              <a:t>Agricultural Planners &amp; Departments</a:t>
            </a:r>
            <a:r>
              <a:rPr lang="en-IN" sz="8000" dirty="0">
                <a:solidFill>
                  <a:srgbClr val="2C3C43">
                    <a:lumMod val="60000"/>
                    <a:lumOff val="40000"/>
                  </a:srgbClr>
                </a:solidFill>
              </a:rPr>
              <a:t> – to support seasonal agricultural planning and resource allocation.</a:t>
            </a:r>
          </a:p>
          <a:p>
            <a:pPr lvl="0">
              <a:buClr>
                <a:srgbClr val="2E946B"/>
              </a:buClr>
            </a:pPr>
            <a:r>
              <a:rPr lang="en-IN" sz="8000" b="1" dirty="0">
                <a:solidFill>
                  <a:srgbClr val="2C3C43">
                    <a:lumMod val="60000"/>
                    <a:lumOff val="40000"/>
                  </a:srgbClr>
                </a:solidFill>
              </a:rPr>
              <a:t>Agricultural Researchers</a:t>
            </a:r>
            <a:r>
              <a:rPr lang="en-IN" sz="8000" dirty="0">
                <a:solidFill>
                  <a:srgbClr val="2C3C43">
                    <a:lumMod val="60000"/>
                    <a:lumOff val="40000"/>
                  </a:srgbClr>
                </a:solidFill>
              </a:rPr>
              <a:t> – to study seasonal patterns, crop performance, and environmental relationships.</a:t>
            </a:r>
          </a:p>
          <a:p>
            <a:pPr lvl="0">
              <a:buClr>
                <a:srgbClr val="2E946B"/>
              </a:buClr>
            </a:pPr>
            <a:r>
              <a:rPr lang="en-IN" sz="8000" b="1" dirty="0">
                <a:solidFill>
                  <a:srgbClr val="2C3C43">
                    <a:lumMod val="60000"/>
                    <a:lumOff val="40000"/>
                  </a:srgbClr>
                </a:solidFill>
              </a:rPr>
              <a:t>Agribusinesses &amp; </a:t>
            </a:r>
            <a:r>
              <a:rPr lang="en-IN" sz="8000" b="1" dirty="0" err="1">
                <a:solidFill>
                  <a:srgbClr val="2C3C43">
                    <a:lumMod val="60000"/>
                    <a:lumOff val="40000"/>
                  </a:srgbClr>
                </a:solidFill>
              </a:rPr>
              <a:t>Agritech</a:t>
            </a:r>
            <a:r>
              <a:rPr lang="en-IN" sz="8000" b="1" dirty="0">
                <a:solidFill>
                  <a:srgbClr val="2C3C43">
                    <a:lumMod val="60000"/>
                    <a:lumOff val="40000"/>
                  </a:srgbClr>
                </a:solidFill>
              </a:rPr>
              <a:t> Companies</a:t>
            </a:r>
            <a:r>
              <a:rPr lang="en-IN" sz="8000" dirty="0">
                <a:solidFill>
                  <a:srgbClr val="2C3C43">
                    <a:lumMod val="60000"/>
                    <a:lumOff val="40000"/>
                  </a:srgbClr>
                </a:solidFill>
              </a:rPr>
              <a:t> – to understand crop production, resource usage, and profitability patterns.</a:t>
            </a:r>
          </a:p>
          <a:p>
            <a:pPr lvl="0">
              <a:buClr>
                <a:srgbClr val="2E946B"/>
              </a:buClr>
            </a:pPr>
            <a:r>
              <a:rPr lang="en-IN" sz="8000" b="1" dirty="0">
                <a:solidFill>
                  <a:srgbClr val="2C3C43">
                    <a:lumMod val="60000"/>
                    <a:lumOff val="40000"/>
                  </a:srgbClr>
                </a:solidFill>
              </a:rPr>
              <a:t>Government &amp; Policy Makers</a:t>
            </a:r>
            <a:r>
              <a:rPr lang="en-IN" sz="8000" dirty="0">
                <a:solidFill>
                  <a:srgbClr val="2C3C43">
                    <a:lumMod val="60000"/>
                    <a:lumOff val="40000"/>
                  </a:srgbClr>
                </a:solidFill>
              </a:rPr>
              <a:t> – to support evidence-based agricultural policies and programs.</a:t>
            </a:r>
          </a:p>
          <a:p>
            <a:pPr lvl="0">
              <a:buClr>
                <a:srgbClr val="2E946B"/>
              </a:buClr>
            </a:pPr>
            <a:r>
              <a:rPr lang="en-IN" sz="8000" b="1" dirty="0">
                <a:solidFill>
                  <a:srgbClr val="2C3C43">
                    <a:lumMod val="60000"/>
                    <a:lumOff val="40000"/>
                  </a:srgbClr>
                </a:solidFill>
              </a:rPr>
              <a:t>Agricultural Consultants</a:t>
            </a:r>
            <a:r>
              <a:rPr lang="en-IN" sz="8000" dirty="0">
                <a:solidFill>
                  <a:srgbClr val="2C3C43">
                    <a:lumMod val="60000"/>
                    <a:lumOff val="40000"/>
                  </a:srgbClr>
                </a:solidFill>
              </a:rPr>
              <a:t> – to provide data-driven recommendations to farmers and agricultural organizations.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26770" y="1432560"/>
            <a:ext cx="8131630" cy="5243448"/>
          </a:xfrm>
        </p:spPr>
        <p:txBody>
          <a:bodyPr/>
          <a:lstStyle/>
          <a:p>
            <a:pPr>
              <a:buNone/>
            </a:pPr>
            <a:r>
              <a:rPr lang="en-IN" b="1" dirty="0">
                <a:solidFill>
                  <a:schemeClr val="tx2">
                    <a:lumMod val="60000"/>
                    <a:lumOff val="40000"/>
                  </a:schemeClr>
                </a:solidFill>
              </a:rPr>
              <a:t>Python – Data cleaning, preprocessing, analysis, and visualization</a:t>
            </a:r>
          </a:p>
          <a:p>
            <a:pPr>
              <a:buNone/>
            </a:pPr>
            <a:r>
              <a:rPr lang="en-IN" b="1" dirty="0">
                <a:solidFill>
                  <a:schemeClr val="tx2">
                    <a:lumMod val="60000"/>
                    <a:lumOff val="40000"/>
                  </a:schemeClr>
                </a:solidFill>
              </a:rPr>
              <a:t>Pandas &amp; NumPy – Data manipulation and numerical analysis</a:t>
            </a:r>
          </a:p>
          <a:p>
            <a:pPr>
              <a:buNone/>
            </a:pPr>
            <a:r>
              <a:rPr lang="en-IN" b="1" dirty="0">
                <a:solidFill>
                  <a:schemeClr val="tx2">
                    <a:lumMod val="60000"/>
                    <a:lumOff val="40000"/>
                  </a:schemeClr>
                </a:solidFill>
              </a:rPr>
              <a:t>Matplotlib &amp; Seaborn – Exploratory data analysis and visualization</a:t>
            </a:r>
          </a:p>
          <a:p>
            <a:pPr>
              <a:buNone/>
            </a:pPr>
            <a:r>
              <a:rPr lang="en-IN" b="1" dirty="0">
                <a:solidFill>
                  <a:schemeClr val="tx2">
                    <a:lumMod val="60000"/>
                    <a:lumOff val="40000"/>
                  </a:schemeClr>
                </a:solidFill>
              </a:rPr>
              <a:t>Jupyter Notebook – Analysis documentation and execution</a:t>
            </a:r>
          </a:p>
          <a:p>
            <a:pPr>
              <a:buNone/>
            </a:pPr>
            <a:r>
              <a:rPr lang="en-IN" b="1" dirty="0">
                <a:solidFill>
                  <a:schemeClr val="tx2">
                    <a:lumMod val="60000"/>
                    <a:lumOff val="40000"/>
                  </a:schemeClr>
                </a:solidFill>
              </a:rPr>
              <a:t>SciPy – Statistical analysis and ANOVA</a:t>
            </a:r>
          </a:p>
          <a:p>
            <a:pPr>
              <a:buNone/>
            </a:pPr>
            <a:r>
              <a:rPr lang="en-IN" b="1" dirty="0">
                <a:solidFill>
                  <a:schemeClr val="tx2">
                    <a:lumMod val="60000"/>
                    <a:lumOff val="40000"/>
                  </a:schemeClr>
                </a:solidFill>
              </a:rPr>
              <a:t>CSV – Dataset and data storage format</a:t>
            </a:r>
          </a:p>
          <a:p>
            <a:pPr>
              <a:buNone/>
            </a:pPr>
            <a:r>
              <a:rPr lang="en-IN" b="1" dirty="0">
                <a:solidFill>
                  <a:schemeClr val="tx2">
                    <a:lumMod val="60000"/>
                    <a:lumOff val="40000"/>
                  </a:schemeClr>
                </a:solidFill>
              </a:rPr>
              <a:t>GitHub – Project documentation and version control</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2"/>
            <a:ext cx="5288836" cy="4150937"/>
          </a:xfrm>
        </p:spPr>
        <p:txBody>
          <a:bodyPr>
            <a:normAutofit/>
          </a:bodyPr>
          <a:lstStyle/>
          <a:p>
            <a:pPr marL="0" lvl="0" indent="0">
              <a:spcBef>
                <a:spcPts val="0"/>
              </a:spcBef>
              <a:buClrTx/>
              <a:buSzTx/>
              <a:buNone/>
            </a:pPr>
            <a:r>
              <a:rPr lang="en-IN" dirty="0">
                <a:solidFill>
                  <a:prstClr val="black"/>
                </a:solidFill>
              </a:rPr>
              <a:t>Dataset Overview</a:t>
            </a:r>
          </a:p>
          <a:p>
            <a:pPr marL="0" lvl="0" indent="0">
              <a:spcBef>
                <a:spcPts val="0"/>
              </a:spcBef>
              <a:buClrTx/>
              <a:buSzTx/>
              <a:buNone/>
            </a:pPr>
            <a:r>
              <a:rPr lang="en-IN" dirty="0">
                <a:solidFill>
                  <a:prstClr val="black"/>
                </a:solidFill>
              </a:rPr>
              <a:t>• Total Records: 4,000</a:t>
            </a:r>
            <a:br>
              <a:rPr lang="en-IN" dirty="0">
                <a:solidFill>
                  <a:prstClr val="black"/>
                </a:solidFill>
              </a:rPr>
            </a:br>
            <a:r>
              <a:rPr lang="en-IN" dirty="0">
                <a:solidFill>
                  <a:prstClr val="black"/>
                </a:solidFill>
              </a:rPr>
              <a:t>• Variables: 28</a:t>
            </a:r>
            <a:br>
              <a:rPr lang="en-IN" dirty="0">
                <a:solidFill>
                  <a:prstClr val="black"/>
                </a:solidFill>
              </a:rPr>
            </a:br>
            <a:r>
              <a:rPr lang="en-IN" dirty="0">
                <a:solidFill>
                  <a:prstClr val="black"/>
                </a:solidFill>
              </a:rPr>
              <a:t>• States: 8</a:t>
            </a:r>
            <a:br>
              <a:rPr lang="en-IN" dirty="0">
                <a:solidFill>
                  <a:prstClr val="black"/>
                </a:solidFill>
              </a:rPr>
            </a:br>
            <a:r>
              <a:rPr lang="en-IN" dirty="0">
                <a:solidFill>
                  <a:prstClr val="black"/>
                </a:solidFill>
              </a:rPr>
              <a:t>• Districts: 10</a:t>
            </a:r>
            <a:br>
              <a:rPr lang="en-IN" dirty="0">
                <a:solidFill>
                  <a:prstClr val="black"/>
                </a:solidFill>
              </a:rPr>
            </a:br>
            <a:r>
              <a:rPr lang="en-IN" dirty="0">
                <a:solidFill>
                  <a:prstClr val="black"/>
                </a:solidFill>
              </a:rPr>
              <a:t>• Crops: 8</a:t>
            </a:r>
            <a:br>
              <a:rPr lang="en-IN" dirty="0">
                <a:solidFill>
                  <a:prstClr val="black"/>
                </a:solidFill>
              </a:rPr>
            </a:br>
            <a:r>
              <a:rPr lang="en-IN" dirty="0">
                <a:solidFill>
                  <a:prstClr val="black"/>
                </a:solidFill>
              </a:rPr>
              <a:t>• Seasons: 3</a:t>
            </a:r>
            <a:br>
              <a:rPr lang="en-IN" dirty="0">
                <a:solidFill>
                  <a:prstClr val="black"/>
                </a:solidFill>
              </a:rPr>
            </a:br>
            <a:r>
              <a:rPr lang="en-IN" dirty="0">
                <a:solidFill>
                  <a:prstClr val="black"/>
                </a:solidFill>
              </a:rPr>
              <a:t>• Average Yield: 5.27 tonnes/ha</a:t>
            </a:r>
            <a:br>
              <a:rPr lang="en-IN" dirty="0">
                <a:solidFill>
                  <a:prstClr val="black"/>
                </a:solidFill>
              </a:rPr>
            </a:br>
            <a:r>
              <a:rPr lang="en-IN" dirty="0">
                <a:solidFill>
                  <a:prstClr val="black"/>
                </a:solidFill>
              </a:rPr>
              <a:t>• Total Production: 172,984.84 tonnes</a:t>
            </a:r>
            <a:br>
              <a:rPr lang="en-IN" dirty="0">
                <a:solidFill>
                  <a:prstClr val="black"/>
                </a:solidFill>
              </a:rPr>
            </a:br>
            <a:r>
              <a:rPr lang="en-IN" dirty="0">
                <a:solidFill>
                  <a:prstClr val="black"/>
                </a:solidFill>
              </a:rPr>
              <a:t>• Total Revenue: ₹2,551,440,192</a:t>
            </a:r>
            <a:br>
              <a:rPr lang="en-IN" dirty="0">
                <a:solidFill>
                  <a:prstClr val="black"/>
                </a:solidFill>
              </a:rPr>
            </a:br>
            <a:r>
              <a:rPr lang="en-IN" dirty="0">
                <a:solidFill>
                  <a:prstClr val="black"/>
                </a:solidFill>
              </a:rPr>
              <a:t>• Total Profit: ₹446,225,860</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81E668E-86C6-5593-CF48-9D34C2A8A211}"/>
              </a:ext>
            </a:extLst>
          </p:cNvPr>
          <p:cNvPicPr>
            <a:picLocks noChangeAspect="1"/>
          </p:cNvPicPr>
          <p:nvPr/>
        </p:nvPicPr>
        <p:blipFill>
          <a:blip r:embed="rId3"/>
          <a:stretch>
            <a:fillRect/>
          </a:stretch>
        </p:blipFill>
        <p:spPr>
          <a:xfrm>
            <a:off x="762892" y="1337619"/>
            <a:ext cx="5474682" cy="5230821"/>
          </a:xfrm>
          <a:prstGeom prst="rect">
            <a:avLst/>
          </a:prstGeom>
        </p:spPr>
      </p:pic>
      <p:pic>
        <p:nvPicPr>
          <p:cNvPr id="9" name="Picture 8">
            <a:extLst>
              <a:ext uri="{FF2B5EF4-FFF2-40B4-BE49-F238E27FC236}">
                <a16:creationId xmlns:a16="http://schemas.microsoft.com/office/drawing/2014/main" id="{C8CD87CD-10C3-E821-2099-BFB43B2F99A6}"/>
              </a:ext>
            </a:extLst>
          </p:cNvPr>
          <p:cNvPicPr>
            <a:picLocks noChangeAspect="1"/>
          </p:cNvPicPr>
          <p:nvPr/>
        </p:nvPicPr>
        <p:blipFill>
          <a:blip r:embed="rId4"/>
          <a:stretch>
            <a:fillRect/>
          </a:stretch>
        </p:blipFill>
        <p:spPr>
          <a:xfrm>
            <a:off x="6390239" y="1337619"/>
            <a:ext cx="5480779" cy="521862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95A07A94-5233-8A0D-C8E6-0046BD8F3B45}"/>
              </a:ext>
            </a:extLst>
          </p:cNvPr>
          <p:cNvPicPr>
            <a:picLocks noChangeAspect="1"/>
          </p:cNvPicPr>
          <p:nvPr/>
        </p:nvPicPr>
        <p:blipFill>
          <a:blip r:embed="rId3"/>
          <a:stretch>
            <a:fillRect/>
          </a:stretch>
        </p:blipFill>
        <p:spPr>
          <a:xfrm>
            <a:off x="762892" y="1434139"/>
            <a:ext cx="5474682" cy="5230821"/>
          </a:xfrm>
          <a:prstGeom prst="rect">
            <a:avLst/>
          </a:prstGeom>
        </p:spPr>
      </p:pic>
      <p:pic>
        <p:nvPicPr>
          <p:cNvPr id="12" name="Picture 11">
            <a:extLst>
              <a:ext uri="{FF2B5EF4-FFF2-40B4-BE49-F238E27FC236}">
                <a16:creationId xmlns:a16="http://schemas.microsoft.com/office/drawing/2014/main" id="{5D5E0ED2-4166-34C9-2385-2960B70B9B55}"/>
              </a:ext>
            </a:extLst>
          </p:cNvPr>
          <p:cNvPicPr>
            <a:picLocks noChangeAspect="1"/>
          </p:cNvPicPr>
          <p:nvPr/>
        </p:nvPicPr>
        <p:blipFill>
          <a:blip r:embed="rId4"/>
          <a:stretch>
            <a:fillRect/>
          </a:stretch>
        </p:blipFill>
        <p:spPr>
          <a:xfrm>
            <a:off x="6518534" y="1446332"/>
            <a:ext cx="5480779" cy="521862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1E2768B-DF31-8F0D-D320-C9DC7223C901}"/>
              </a:ext>
            </a:extLst>
          </p:cNvPr>
          <p:cNvPicPr>
            <a:picLocks noChangeAspect="1"/>
          </p:cNvPicPr>
          <p:nvPr/>
        </p:nvPicPr>
        <p:blipFill>
          <a:blip r:embed="rId3"/>
          <a:stretch>
            <a:fillRect/>
          </a:stretch>
        </p:blipFill>
        <p:spPr>
          <a:xfrm>
            <a:off x="762892" y="1337619"/>
            <a:ext cx="5474682" cy="5230821"/>
          </a:xfrm>
          <a:prstGeom prst="rect">
            <a:avLst/>
          </a:prstGeom>
        </p:spPr>
      </p:pic>
      <p:pic>
        <p:nvPicPr>
          <p:cNvPr id="12" name="Picture 11">
            <a:extLst>
              <a:ext uri="{FF2B5EF4-FFF2-40B4-BE49-F238E27FC236}">
                <a16:creationId xmlns:a16="http://schemas.microsoft.com/office/drawing/2014/main" id="{1BFA91EF-E955-9E34-3BBA-F1BDD01A8240}"/>
              </a:ext>
            </a:extLst>
          </p:cNvPr>
          <p:cNvPicPr>
            <a:picLocks noChangeAspect="1"/>
          </p:cNvPicPr>
          <p:nvPr/>
        </p:nvPicPr>
        <p:blipFill>
          <a:blip r:embed="rId4"/>
          <a:stretch>
            <a:fillRect/>
          </a:stretch>
        </p:blipFill>
        <p:spPr>
          <a:xfrm>
            <a:off x="6390239" y="1352643"/>
            <a:ext cx="5480779" cy="521862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5352870-4768-2976-D5C9-2266B47729DF}"/>
              </a:ext>
            </a:extLst>
          </p:cNvPr>
          <p:cNvPicPr>
            <a:picLocks noChangeAspect="1"/>
          </p:cNvPicPr>
          <p:nvPr/>
        </p:nvPicPr>
        <p:blipFill>
          <a:blip r:embed="rId3"/>
          <a:stretch>
            <a:fillRect/>
          </a:stretch>
        </p:blipFill>
        <p:spPr>
          <a:xfrm>
            <a:off x="762892" y="1337619"/>
            <a:ext cx="5474682" cy="5230821"/>
          </a:xfrm>
          <a:prstGeom prst="rect">
            <a:avLst/>
          </a:prstGeom>
        </p:spPr>
      </p:pic>
      <p:pic>
        <p:nvPicPr>
          <p:cNvPr id="12" name="Picture 11">
            <a:extLst>
              <a:ext uri="{FF2B5EF4-FFF2-40B4-BE49-F238E27FC236}">
                <a16:creationId xmlns:a16="http://schemas.microsoft.com/office/drawing/2014/main" id="{82CAB0DB-71EA-64B5-6E3D-1B7A0590CC24}"/>
              </a:ext>
            </a:extLst>
          </p:cNvPr>
          <p:cNvPicPr>
            <a:picLocks noChangeAspect="1"/>
          </p:cNvPicPr>
          <p:nvPr/>
        </p:nvPicPr>
        <p:blipFill>
          <a:blip r:embed="rId4"/>
          <a:stretch>
            <a:fillRect/>
          </a:stretch>
        </p:blipFill>
        <p:spPr>
          <a:xfrm>
            <a:off x="6390239" y="1343715"/>
            <a:ext cx="5480779" cy="521862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EB0E7-3FB8-DBE5-6BDB-E84C0A1CF1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69971A-665F-634C-9C25-8439875E044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62A98B1-BD21-7522-B6BE-111BAD61205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DB36B8F0-B8F7-761F-DFE4-8AB28BE2C56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7BAEF55F-0783-CB0B-4CB0-DCB7D78D713A}"/>
              </a:ext>
            </a:extLst>
          </p:cNvPr>
          <p:cNvPicPr>
            <a:picLocks noChangeAspect="1"/>
          </p:cNvPicPr>
          <p:nvPr/>
        </p:nvPicPr>
        <p:blipFill>
          <a:blip r:embed="rId3"/>
          <a:stretch>
            <a:fillRect/>
          </a:stretch>
        </p:blipFill>
        <p:spPr>
          <a:xfrm>
            <a:off x="675957" y="1275371"/>
            <a:ext cx="11174937" cy="2353260"/>
          </a:xfrm>
          <a:prstGeom prst="rect">
            <a:avLst/>
          </a:prstGeom>
        </p:spPr>
      </p:pic>
      <p:pic>
        <p:nvPicPr>
          <p:cNvPr id="15" name="Picture 14">
            <a:extLst>
              <a:ext uri="{FF2B5EF4-FFF2-40B4-BE49-F238E27FC236}">
                <a16:creationId xmlns:a16="http://schemas.microsoft.com/office/drawing/2014/main" id="{014349BB-0FC3-3FE6-CF03-DE8625AC9F6F}"/>
              </a:ext>
            </a:extLst>
          </p:cNvPr>
          <p:cNvPicPr>
            <a:picLocks noChangeAspect="1"/>
          </p:cNvPicPr>
          <p:nvPr/>
        </p:nvPicPr>
        <p:blipFill>
          <a:blip r:embed="rId4"/>
          <a:stretch>
            <a:fillRect/>
          </a:stretch>
        </p:blipFill>
        <p:spPr>
          <a:xfrm>
            <a:off x="6473756" y="3991229"/>
            <a:ext cx="5377138" cy="2353260"/>
          </a:xfrm>
          <a:prstGeom prst="rect">
            <a:avLst/>
          </a:prstGeom>
        </p:spPr>
      </p:pic>
      <p:pic>
        <p:nvPicPr>
          <p:cNvPr id="17" name="Picture 16">
            <a:extLst>
              <a:ext uri="{FF2B5EF4-FFF2-40B4-BE49-F238E27FC236}">
                <a16:creationId xmlns:a16="http://schemas.microsoft.com/office/drawing/2014/main" id="{501E571E-FE77-9513-0584-F006AD36E757}"/>
              </a:ext>
            </a:extLst>
          </p:cNvPr>
          <p:cNvPicPr>
            <a:picLocks noChangeAspect="1"/>
          </p:cNvPicPr>
          <p:nvPr/>
        </p:nvPicPr>
        <p:blipFill>
          <a:blip r:embed="rId5"/>
          <a:stretch>
            <a:fillRect/>
          </a:stretch>
        </p:blipFill>
        <p:spPr>
          <a:xfrm>
            <a:off x="718862" y="3962260"/>
            <a:ext cx="5377138" cy="2353260"/>
          </a:xfrm>
          <a:prstGeom prst="rect">
            <a:avLst/>
          </a:prstGeom>
        </p:spPr>
      </p:pic>
    </p:spTree>
    <p:extLst>
      <p:ext uri="{BB962C8B-B14F-4D97-AF65-F5344CB8AC3E}">
        <p14:creationId xmlns:p14="http://schemas.microsoft.com/office/powerpoint/2010/main" val="1051877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41895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3FDA270-EC25-25D4-6478-40258620F6BE}"/>
              </a:ext>
            </a:extLst>
          </p:cNvPr>
          <p:cNvSpPr txBox="1"/>
          <p:nvPr/>
        </p:nvSpPr>
        <p:spPr>
          <a:xfrm>
            <a:off x="1110344" y="1632857"/>
            <a:ext cx="5437414" cy="34778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Predict crop yield</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using Machine Learning.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Recommend the best crop</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for each season and region.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Add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real-time weather data</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Analyze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market prices</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and suggest profitable crops.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Help farmers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save water and reduce costs</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Create a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mobile/web application</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for farmers.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Add </a:t>
            </a:r>
            <a:r>
              <a:rPr kumimoji="0" lang="en-IN" sz="2000" b="1"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AI-based recommendations</a:t>
            </a:r>
            <a:r>
              <a:rPr kumimoji="0" lang="en-IN" sz="2000" b="0" i="0" u="none" strike="noStrike" kern="1200" cap="none" spc="0" normalizeH="0" baseline="0" noProof="0">
                <a:ln>
                  <a:noFill/>
                </a:ln>
                <a:solidFill>
                  <a:srgbClr val="2C3C43">
                    <a:lumMod val="60000"/>
                    <a:lumOff val="40000"/>
                  </a:srgbClr>
                </a:solidFill>
                <a:effectLst/>
                <a:uLnTx/>
                <a:uFillTx/>
                <a:latin typeface="Trebuchet MS" panose="020B0603020202020204"/>
                <a:ea typeface="+mn-ea"/>
                <a:cs typeface="+mn-cs"/>
              </a:rPr>
              <a:t> for better farming decisions. </a:t>
            </a:r>
            <a:endParaRPr kumimoji="0" lang="en-IN" sz="2000" b="0" i="0" u="none" strike="noStrike" kern="1200" cap="none" spc="0" normalizeH="0" baseline="0" noProof="0" dirty="0">
              <a:ln>
                <a:noFill/>
              </a:ln>
              <a:solidFill>
                <a:srgbClr val="2C3C43">
                  <a:lumMod val="60000"/>
                  <a:lumOff val="40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b="1" dirty="0">
                <a:hlinkClick r:id="rId3">
                  <a:extLst>
                    <a:ext uri="{A12FA001-AC4F-418D-AE19-62706E023703}">
                      <ahyp:hlinkClr xmlns:ahyp="http://schemas.microsoft.com/office/drawing/2018/hyperlinkcolor" val="tx"/>
                    </a:ext>
                  </a:extLst>
                </a:hlinkClick>
              </a:rPr>
              <a:t>https://github.com/CMohanRaaj/Seasonal-Agriculture-Performance-Analysis</a:t>
            </a:r>
            <a:endParaRPr lang="en-US" b="1"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94F14C4E-3DDE-889F-AC9C-E15CF06EEDDA}"/>
              </a:ext>
            </a:extLst>
          </p:cNvPr>
          <p:cNvSpPr/>
          <p:nvPr/>
        </p:nvSpPr>
        <p:spPr>
          <a:xfrm>
            <a:off x="675957" y="1608410"/>
            <a:ext cx="10506705" cy="465811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1427</TotalTime>
  <Words>530</Words>
  <Application>Microsoft Office PowerPoint</Application>
  <PresentationFormat>Widescreen</PresentationFormat>
  <Paragraphs>45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Seasonal Agriculture Performance Analysis </vt:lpstr>
      <vt:lpstr>PROBLEM  STATEMENT</vt:lpstr>
      <vt:lpstr>Project Description Seasonal Agriculture Performance Analysis is a data analytics project focused on understanding how agricultural performance varies across different seasons, regions, crops, environmental conditions, farming practices, resource usage, and economic factors. The project involves data loading, data cleaning, exploratory data analysis, statistical analysis, KPI evaluation, visualization, and interpretation of agricultural data. The analysis compares seasonal performance, crop productivity, resource usage, environmental conditions, and economic outcomes to identify meaningful patterns and relationships. The objective is to generate evidence-based insights and data-driven recommendations that can support better seasonal agricultural planning and resource management.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C MOHAN RAAJ</cp:lastModifiedBy>
  <cp:revision>101</cp:revision>
  <dcterms:created xsi:type="dcterms:W3CDTF">2021-07-11T13:13:15Z</dcterms:created>
  <dcterms:modified xsi:type="dcterms:W3CDTF">2026-09-15T18:10:12Z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